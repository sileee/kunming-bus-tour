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c6146e01c742b3" /><Relationship Type="http://schemas.openxmlformats.org/officeDocument/2006/relationships/extended-properties" Target="/docProps/app.xml" Id="Ree61946c2a2c4aca" /><Relationship Type="http://schemas.openxmlformats.org/officeDocument/2006/relationships/officeDocument" Target="/ppt/presentation.xml" Id="R3ba67ab3fa054f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54d504f08d4871"/>
  </p:sldMasterIdLst>
  <p:notesMasterIdLst>
    <p:notesMasterId xmlns:r="http://schemas.openxmlformats.org/officeDocument/2006/relationships" r:id="Rfba1294813ad4b13"/>
  </p:notesMasterIdLst>
  <p:sldIdLst>
    <p:sldId xmlns:r="http://schemas.openxmlformats.org/officeDocument/2006/relationships" id="256" r:id="R64d306145eca4058"/>
    <p:sldId xmlns:r="http://schemas.openxmlformats.org/officeDocument/2006/relationships" id="257" r:id="R831e750d2e244e5e"/>
    <p:sldId xmlns:r="http://schemas.openxmlformats.org/officeDocument/2006/relationships" id="258" r:id="R995b0fbafc224365"/>
    <p:sldId xmlns:r="http://schemas.openxmlformats.org/officeDocument/2006/relationships" id="259" r:id="R7018ec9455e04eba"/>
    <p:sldId xmlns:r="http://schemas.openxmlformats.org/officeDocument/2006/relationships" id="260" r:id="R44cb853041364345"/>
    <p:sldId xmlns:r="http://schemas.openxmlformats.org/officeDocument/2006/relationships" id="261" r:id="Ra79edbeb9aab4c38"/>
    <p:sldId xmlns:r="http://schemas.openxmlformats.org/officeDocument/2006/relationships" id="262" r:id="Ra943bdb0cbec4b16"/>
    <p:sldId xmlns:r="http://schemas.openxmlformats.org/officeDocument/2006/relationships" id="263" r:id="Rce9498ae66484c57"/>
    <p:sldId xmlns:r="http://schemas.openxmlformats.org/officeDocument/2006/relationships" id="264" r:id="Re963ead6bb6d4e2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4d504f08d4871" /><Relationship Type="http://schemas.openxmlformats.org/officeDocument/2006/relationships/theme" Target="/ppt/theme/theme1.xml" Id="Rca1214998d7c4044" /><Relationship Type="http://schemas.openxmlformats.org/officeDocument/2006/relationships/notesMaster" Target="/ppt/notesMasters/notesMaster1.xml" Id="Rfba1294813ad4b13" /><Relationship Type="http://schemas.openxmlformats.org/officeDocument/2006/relationships/presProps" Target="/ppt/presProps.xml" Id="R54c3560549304bd1" /><Relationship Type="http://schemas.openxmlformats.org/officeDocument/2006/relationships/viewProps" Target="/ppt/viewProps.xml" Id="Rf0a9619b16db4e60" /><Relationship Type="http://schemas.openxmlformats.org/officeDocument/2006/relationships/tableStyles" Target="/ppt/tableStyles.xml" Id="R59a29b1094b24055" /><Relationship Type="http://schemas.openxmlformats.org/officeDocument/2006/relationships/slide" Target="/ppt/slides/slide1.xml" Id="R64d306145eca4058" /><Relationship Type="http://schemas.openxmlformats.org/officeDocument/2006/relationships/slide" Target="/ppt/slides/slide2.xml" Id="R831e750d2e244e5e" /><Relationship Type="http://schemas.openxmlformats.org/officeDocument/2006/relationships/slide" Target="/ppt/slides/slide3.xml" Id="R995b0fbafc224365" /><Relationship Type="http://schemas.openxmlformats.org/officeDocument/2006/relationships/slide" Target="/ppt/slides/slide4.xml" Id="R7018ec9455e04eba" /><Relationship Type="http://schemas.openxmlformats.org/officeDocument/2006/relationships/slide" Target="/ppt/slides/slide5.xml" Id="R44cb853041364345" /><Relationship Type="http://schemas.openxmlformats.org/officeDocument/2006/relationships/slide" Target="/ppt/slides/slide6.xml" Id="Ra79edbeb9aab4c38" /><Relationship Type="http://schemas.openxmlformats.org/officeDocument/2006/relationships/slide" Target="/ppt/slides/slide7.xml" Id="Ra943bdb0cbec4b16" /><Relationship Type="http://schemas.openxmlformats.org/officeDocument/2006/relationships/slide" Target="/ppt/slides/slide8.xml" Id="Rce9498ae66484c57" /><Relationship Type="http://schemas.openxmlformats.org/officeDocument/2006/relationships/slide" Target="/ppt/slides/slide9.xml" Id="Re963ead6bb6d4e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9c009e9b834d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7f6782a2af4454" /><Relationship Type="http://schemas.openxmlformats.org/officeDocument/2006/relationships/notesMaster" Target="/ppt/notesMasters/notesMaster1.xml" Id="Rc5532314856144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95b64897f4b8a" /><Relationship Type="http://schemas.openxmlformats.org/officeDocument/2006/relationships/notesMaster" Target="/ppt/notesMasters/notesMaster1.xml" Id="R43aefceaa2304b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f61bad51684bf2" /><Relationship Type="http://schemas.openxmlformats.org/officeDocument/2006/relationships/notesMaster" Target="/ppt/notesMasters/notesMaster1.xml" Id="R3f06f4a4cd6e46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c0c70d02764882" /><Relationship Type="http://schemas.openxmlformats.org/officeDocument/2006/relationships/notesMaster" Target="/ppt/notesMasters/notesMaster1.xml" Id="Rccc61b38db8a4a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c0caa56cf04850" /><Relationship Type="http://schemas.openxmlformats.org/officeDocument/2006/relationships/notesMaster" Target="/ppt/notesMasters/notesMaster1.xml" Id="R1f5162b1df3542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ec51c11a684439" /><Relationship Type="http://schemas.openxmlformats.org/officeDocument/2006/relationships/notesMaster" Target="/ppt/notesMasters/notesMaster1.xml" Id="R4f305dac0ce742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9ad9acd2644efb" /><Relationship Type="http://schemas.openxmlformats.org/officeDocument/2006/relationships/notesMaster" Target="/ppt/notesMasters/notesMaster1.xml" Id="R6e2b6dd7772640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5400fef21e4484" /><Relationship Type="http://schemas.openxmlformats.org/officeDocument/2006/relationships/notesMaster" Target="/ppt/notesMasters/notesMaster1.xml" Id="R3a9408f9f0f44e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607704d7c44acb" /><Relationship Type="http://schemas.openxmlformats.org/officeDocument/2006/relationships/notesMaster" Target="/ppt/notesMasters/notesMaster1.xml" Id="R25eb13bc165540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3e1a262b1408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701f0fe3004525" /><Relationship Type="http://schemas.openxmlformats.org/officeDocument/2006/relationships/slideLayout" Target="/ppt/slideLayouts/slideLayout2.xml" Id="Rf9e534d8607c4f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534d8607c4f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888ed082447b2" /><Relationship Type="http://schemas.openxmlformats.org/officeDocument/2006/relationships/notesSlide" Target="/ppt/notesSlides/notesSlide1.xml" Id="R0d66771c9cfd42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b86aefe1734a3b" /><Relationship Type="http://schemas.openxmlformats.org/officeDocument/2006/relationships/notesSlide" Target="/ppt/notesSlides/notesSlide2.xml" Id="Rf29930b87ba14d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250cde636f4d49" /><Relationship Type="http://schemas.openxmlformats.org/officeDocument/2006/relationships/notesSlide" Target="/ppt/notesSlides/notesSlide3.xml" Id="R472491e29ab944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84ea3f0c64337" /><Relationship Type="http://schemas.openxmlformats.org/officeDocument/2006/relationships/notesSlide" Target="/ppt/notesSlides/notesSlide4.xml" Id="Ra62f4d6d8c2640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79af49f784e80" /><Relationship Type="http://schemas.openxmlformats.org/officeDocument/2006/relationships/notesSlide" Target="/ppt/notesSlides/notesSlide5.xml" Id="R2a2430bf92ed45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11962cb3a247c6" /><Relationship Type="http://schemas.openxmlformats.org/officeDocument/2006/relationships/notesSlide" Target="/ppt/notesSlides/notesSlide6.xml" Id="R8b4a7f7a29404c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0605a784a64044" /><Relationship Type="http://schemas.openxmlformats.org/officeDocument/2006/relationships/notesSlide" Target="/ppt/notesSlides/notesSlide7.xml" Id="R66f50c7a7e6c40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a7e4bd34c4d11" /><Relationship Type="http://schemas.openxmlformats.org/officeDocument/2006/relationships/notesSlide" Target="/ppt/notesSlides/notesSlide8.xml" Id="R7ed9d8a337654e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7407d5641d4c2b" /><Relationship Type="http://schemas.openxmlformats.org/officeDocument/2006/relationships/notesSlide" Target="/ppt/notesSlides/notesSlide9.xml" Id="Rc5d3b98d0a7140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045E21B-6F9B-48A3-B017-BB61890F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8001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昆明公交旅游路线数据可视化平台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746FEE-1CA1-47E8-BDFA-06B8B64B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701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Vue 3 + Express + MySQL + 高德地图 + ECharts 的完整课程实训工程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A5C4050-D65E-4D96-9823-37A13050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200E8-4817-4B83-8F53-F53CBCB6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4743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63EB"/>
                </a:solidFill>
              </a:defRPr>
            </a:pPr>
            <a:r>
              <a:rPr sz="3300" b="1">
                <a:solidFill>
                  <a:srgbClr val="2563E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7775D-EFAB-4F93-958C-88F1F3B2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474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旅游相关公交线路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C9A85-B896-48EC-9C20-CE9A3704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743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ECD6A-44C6-4C4F-A7DA-96811D3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74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昆明公交站点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57C83-8DFE-4971-A87E-C88BD718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62250"/>
            <a:ext cx="4743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580C"/>
                </a:solidFill>
              </a:defRPr>
            </a:pPr>
            <a:r>
              <a:rPr sz="3300" b="1">
                <a:solidFill>
                  <a:srgbClr val="EA580C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C5E48-DEC1-4D0B-BA2B-1B6049E1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52800"/>
            <a:ext cx="474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代表性旅游景点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4240A-8EDE-4D17-B4BE-BF4CB434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4743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C2626"/>
                </a:solidFill>
              </a:defRPr>
            </a:pPr>
            <a:r>
              <a:rPr sz="3300" b="1">
                <a:solidFill>
                  <a:srgbClr val="DC2626"/>
                </a:solidFill>
              </a:rPr>
              <a:t>36.5万+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1DE80-FB27-4832-B4E4-AA94F14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474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仿真单日客流样本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06125-082E-425A-AB7F-EE0229BF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24450"/>
            <a:ext cx="4743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A34A"/>
                </a:solidFill>
              </a:defRPr>
            </a:pPr>
            <a:r>
              <a:rPr sz="3300" b="1">
                <a:solidFill>
                  <a:srgbClr val="16A34A"/>
                </a:solidFill>
              </a:rPr>
              <a:t>file/mysql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BA3D7-10B5-4007-8E84-25295023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15000"/>
            <a:ext cx="474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双模式数据访问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022B6-8C24-49AD-88AC-8C89F4D6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124450"/>
            <a:ext cx="4743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63EB"/>
                </a:solidFill>
              </a:defRPr>
            </a:pPr>
            <a:r>
              <a:rPr sz="3300" b="1">
                <a:solidFill>
                  <a:srgbClr val="2563EB"/>
                </a:solidFill>
              </a:rPr>
              <a:t>7份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2309B-CB1D-4E60-8724-E1680FB7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715000"/>
            <a:ext cx="474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工程开发文档</a:t>
            </a:r>
          </a:p>
        </p:txBody>
      </p:sp>
    </p:spTree>
    <p:extLst>
      <p:ext uri="{BB962C8B-B14F-4D97-AF65-F5344CB8AC3E}">
        <p14:creationId xmlns:p14="http://schemas.microsoft.com/office/powerpoint/2010/main" val="2662083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446DC57-DD34-4B05-BD87-EA460097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733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项目背景与目标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EE4D12-3938-4BB0-B12D-98E5EBA3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7924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模拟智慧城市公共交通可视化业务场景，服务游客出行和城市运营分析。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B88A775-B7CC-4CC3-AE68-2471F60A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37583-BFE1-4661-B4A9-3F3FECB0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47D92-0D37-4676-AE77-1BC61D48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1000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围绕昆明翠湖、滇池、民族村、世博园、官渡古镇、斗南花市等旅游目的地组织公交出行数据。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AE1BF-5C38-4E66-9D25-E9EDED2F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B6DE4-CB34-47D4-8608-ED822A3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5150"/>
            <a:ext cx="864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把线路、站点、景点、客流、热度、拥挤度等数据整合到一个可交互 Web 应用中。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5892D-0046-424F-AB31-AD7081FF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5EFFB-8421-47D7-9031-7AF6DD45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76650"/>
            <a:ext cx="876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形成可运行源码、MySQL 脚本、接口服务、前端可视化、开发文档和成果展示 PPT。</a:t>
            </a:r>
          </a:p>
        </p:txBody>
      </p:sp>
    </p:spTree>
    <p:extLst>
      <p:ext uri="{BB962C8B-B14F-4D97-AF65-F5344CB8AC3E}">
        <p14:creationId xmlns:p14="http://schemas.microsoft.com/office/powerpoint/2010/main" val="13705191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292B60D-A4E0-41B1-80C0-D2E95DCC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13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系统架构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56C1BF-554C-4AF6-9E5C-E33EE591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6629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前后端分离，后端提供 REST API，前端负责地图与图表交互。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86C0E6D-631B-4BC1-BB03-3C9B2BA4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3A4BA-2B2D-4B29-B07F-154CEBE7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前端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8BAFA-FEF3-429D-B880-CBBC276A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9400"/>
            <a:ext cx="8972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Vue 3、TypeScript、Vite、ECharts、高德地图 JS API；无地图 Key 时使用内置降级地图。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447BF-24D3-41DB-86D9-5AEC84D1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后端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A0720-C2EA-4DB7-BB16-0CAF8EC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76650"/>
            <a:ext cx="6743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Node.js + Express 提供线路、站点、景点、统计和后台管理接口。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5E497-A51D-4A53-8203-F44B3A72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32487-CF9F-4242-B5DF-13A9EF2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48150"/>
            <a:ext cx="6934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MySQL 持久化公交线路、站点、景点、关联关系和仿真统计指标。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0EB63-F155-47C5-A7D0-A3AA8221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915E9-97F1-4563-8529-67CA1DE9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19650"/>
            <a:ext cx="7505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DATA_MODE=file 便于演示，DATA_MODE=mysql 满足数据库型工程要求。</a:t>
            </a:r>
          </a:p>
        </p:txBody>
      </p:sp>
    </p:spTree>
    <p:extLst>
      <p:ext uri="{BB962C8B-B14F-4D97-AF65-F5344CB8AC3E}">
        <p14:creationId xmlns:p14="http://schemas.microsoft.com/office/powerpoint/2010/main" val="3284118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50EF8685-9529-455E-AD8D-ED52F70E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13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核心功能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62182A-6B8E-473A-BCF9-FDEDB20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6438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驾驶舱、地图、详情、分析、后台管理覆盖完整业务闭环。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70359A-9A6E-4EEC-A9F6-1CD1584F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1F345-5A86-4743-B717-2B4D2AD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驾驶舱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B195E-CD8E-495A-A137-FE551EB4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展示线路总数、站点总数、景点总数、客流总量和热门线路排行。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CFC26-0D8A-4561-BDCD-B6C0F836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地图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CE497-CAEF-419B-874A-FD5588A9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5150"/>
            <a:ext cx="666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展示公交线路 Polyline、站点 Marker、景点 Marker 和线路筛选。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6FF78-E6DA-419A-B95F-10C051CC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详情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6D4C8-0164-4931-A691-EF69BD68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6240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展示单条线路运营时间、票价、站点顺序、附近景点和运营指标。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8C122-FD57-42F7-A8E0-0B5D1E29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626F5-512B-44A5-9159-86CCC07C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33900"/>
            <a:ext cx="7277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通过 ECharts 展示客流排行、景点热度、区域分布、拥挤度和准点率。</a:t>
            </a:r>
          </a:p>
        </p:txBody>
      </p:sp>
    </p:spTree>
    <p:extLst>
      <p:ext uri="{BB962C8B-B14F-4D97-AF65-F5344CB8AC3E}">
        <p14:creationId xmlns:p14="http://schemas.microsoft.com/office/powerpoint/2010/main" val="19824070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F01AD60-E130-4207-9DB5-BC8D667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667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数据库设计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4E9D68-2426-4F0D-9E0D-D43C23D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6629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用关系模型表达“线路-站点-景点-统计指标”的核心数据关系。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8A22760-901F-492A-8A51-CE5D18AF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1FCD0-686E-4D74-ABEB-FC028FE2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bus_routes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60555-E755-45BF-96F3-15BAD2C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94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公交线路基础表，保存编号、名称、起终点、运营时间、票价、类型和渲染颜色。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90835-F789-4A41-9BF0-7D6B4E89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bus_stops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265B3-E2DD-484E-B268-71A25571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90900"/>
            <a:ext cx="5010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公交站点表，保存站名、经纬度和所属行政区。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DD355-84D3-4D03-958E-DC78629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route_stops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2ED04-B954-4ACA-892F-14E502CC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62400"/>
            <a:ext cx="5562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线路站点关联表，通过 sequence 字段表达途经顺序。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4F9D3-DA19-4816-B593-B2C88A0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route_statistics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11C0A-F47A-4A53-8219-B4B01FAA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196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线路运营统计表，保存客流量、准点率、拥挤度和热度值。</a:t>
            </a:r>
          </a:p>
        </p:txBody>
      </p:sp>
    </p:spTree>
    <p:extLst>
      <p:ext uri="{BB962C8B-B14F-4D97-AF65-F5344CB8AC3E}">
        <p14:creationId xmlns:p14="http://schemas.microsoft.com/office/powerpoint/2010/main" val="2009320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6A3EEE1-7462-4697-9A38-18B0E27B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2133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接口设计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EFD0AA-9EBB-4481-944D-76CC4A91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6210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REST API 统一返回 JSON，前端不直接依赖静态数据文件。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B66AEBA-89E7-4B64-9E77-FAAA19FC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072A3-45B8-4432-8693-64A1B0AD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线路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4B51C-9F71-4CE8-9A73-1415C974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9400"/>
            <a:ext cx="720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GET /api/routes、GET /api/routes/:id，支持关键词、类型和景点筛选。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95C48-104D-47C2-8938-390F3DC3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2C761-6F2B-42FA-BA64-43E3CEED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90900"/>
            <a:ext cx="6172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GET /api/stops、GET /api/spots，支撑地图站点和景点图层。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11911-4953-46A9-9D91-D832C9B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统计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90307-9146-4AF2-B320-4ECEF39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48150"/>
            <a:ext cx="800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GET /api/statistics/overview、GET /api/statistics/routes，支撑驾驶舱和分析页。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E73C7-CFC8-494B-9D8C-6A344E0E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26D4A-252E-4E58-A476-264D6912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0540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POST/PUT/DELETE /api/admin/routes，提供后台基础维护能力。</a:t>
            </a:r>
          </a:p>
        </p:txBody>
      </p:sp>
    </p:spTree>
    <p:extLst>
      <p:ext uri="{BB962C8B-B14F-4D97-AF65-F5344CB8AC3E}">
        <p14:creationId xmlns:p14="http://schemas.microsoft.com/office/powerpoint/2010/main" val="5079333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67E60FA-F072-4521-8F60-2EA00B49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733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数据可视化设计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269C5A-C1E8-4D2A-AE40-C69CB1C8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6934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地图解决空间关系，图表解决运营对比，详情页解决路线解释。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4398368-E30D-461A-8B4A-25007F7E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FC362-3FAE-48D8-8CAC-898D41C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空间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E935B-153F-4A35-8799-838B40AE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714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以昆明为中心展示线路轨迹，串联主城区、滇池片区、官渡和呈贡。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217B6-6FD4-484A-8369-DEA0C695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对比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AE70C-5A99-4787-BB29-708AC0A8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515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用柱状图对比线路客流和景点热度，用饼图展示站点区域分布。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A6195-96D4-415D-928C-7E2B674C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运营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76D73-A916-4042-9B3D-FBB47714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76650"/>
            <a:ext cx="5962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用折线图对比拥挤度和准点率，说明公共交通管理价值。</a:t>
            </a:r>
          </a:p>
        </p:txBody>
      </p:sp>
    </p:spTree>
    <p:extLst>
      <p:ext uri="{BB962C8B-B14F-4D97-AF65-F5344CB8AC3E}">
        <p14:creationId xmlns:p14="http://schemas.microsoft.com/office/powerpoint/2010/main" val="4716073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EF5A773-8BF9-4A68-B05F-3F910264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733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测试与展示流程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587E46-9D84-4064-8BBD-E20D5728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6896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按照“启动后端、启动前端、演示功能、说明文档”的顺序展示。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7DE9E88-5F9E-4734-9D19-AF2A5861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2A04C-A62F-4A2E-9D8A-3D7D8B88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后端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19710-1429-4B55-9693-C601B3A0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9400"/>
            <a:ext cx="8153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运行 npm run test --prefix backend，验证健康检查、线路列表和首页统计接口。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CF978-8327-40BC-87D5-816FB87F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27237-13BD-4C0D-A4C1-C34E8642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90900"/>
            <a:ext cx="729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运行 npm run build --prefix frontend，验证 TypeScript 类型和 Vite 构建。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8605C-1330-488A-B9D7-1A3D25A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CE0E1-4251-45A4-9026-95E7973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6240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依次展示驾驶舱、地图、线路详情、数据分析和后台管理。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B427C-03B4-454D-8787-554FB13F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7EAB3-5926-4B9E-B451-D37C2C25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33900"/>
            <a:ext cx="7562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展示 README、数据库设计、接口文档、测试报告和开源项目借鉴说明。</a:t>
            </a:r>
          </a:p>
        </p:txBody>
      </p:sp>
    </p:spTree>
    <p:extLst>
      <p:ext uri="{BB962C8B-B14F-4D97-AF65-F5344CB8AC3E}">
        <p14:creationId xmlns:p14="http://schemas.microsoft.com/office/powerpoint/2010/main" val="2784287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69CEC851-C0F3-4F0E-B516-BA4A945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3200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2033"/>
                </a:solidFill>
              </a:defRPr>
            </a:pPr>
            <a:r>
              <a:rPr sz="4200" b="1">
                <a:solidFill>
                  <a:srgbClr val="122033"/>
                </a:solidFill>
              </a:rPr>
              <a:t>创新点与总结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1F0A60-C7F9-4DF7-8279-AF728E4E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6934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4748B"/>
                </a:solidFill>
              </a:defRPr>
            </a:pPr>
            <a:r>
              <a:rPr sz="1950">
                <a:solidFill>
                  <a:srgbClr val="64748B"/>
                </a:solidFill>
              </a:rPr>
              <a:t>项目既满足课程技能覆盖，也保留答辩时可解释的工程完整性。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344DAB7-C836-4E1A-83E9-199336ED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3ABD0-8FE0-42BC-805B-6F09BE82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创新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3A247-846C-4953-93D1-483FBA77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691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把公交路线和旅游目的地结合，形成更具体的城市文旅出行场景。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16F69-CF68-4EA7-B1F2-EBA91A1B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0BE46-2007-402C-9277-16DBA907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05150"/>
            <a:ext cx="6457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提供高德地图真实模式和 SVG 降级模式，降低现场演示风险。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90142-006F-4E3C-832E-2774EDC1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59591-30A1-4CC6-9D9A-C4EC910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76650"/>
            <a:ext cx="5657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覆盖前端、后端、数据库、接口、文档、测试和 PPT。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006DB-76B1-4C5B-800D-3FDE6017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555D6-CB6F-471B-BFBA-B3DF2D34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48150"/>
            <a:ext cx="571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22033"/>
                </a:solidFill>
              </a:defRPr>
            </a:pPr>
            <a:r>
              <a:rPr sz="1875">
                <a:solidFill>
                  <a:srgbClr val="122033"/>
                </a:solidFill>
              </a:rPr>
              <a:t>不声称接入真实实时公交，运营指标明确为仿真数据。</a:t>
            </a:r>
          </a:p>
        </p:txBody>
      </p:sp>
    </p:spTree>
    <p:extLst>
      <p:ext uri="{BB962C8B-B14F-4D97-AF65-F5344CB8AC3E}">
        <p14:creationId xmlns:p14="http://schemas.microsoft.com/office/powerpoint/2010/main" val="1786858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2026-05-09T10:06:19.3450000Z</dcterms:created>
  <dcterms:modified xsi:type="dcterms:W3CDTF">2026-05-09T10:06:19.3450000Z</dcterms:modified>
</coreProperties>
</file>